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CHIẾN LƯỢC PHÒNG THỦ AN NINH MẠNG 3 TẦNG</a:t>
            </a:r>
          </a:p>
          <a:p>
            <a:pPr algn="ctr">
              <a:defRPr sz="2200">
                <a:solidFill>
                  <a:srgbClr val="FF6B00"/>
                </a:solidFill>
                <a:latin typeface="Montserrat"/>
              </a:defRPr>
            </a:pPr>
            <a:r>
              <a:t>Hệ thống Báo cáo &amp; Giám sát Sự cố Trung tâm NetGuard 2026</a:t>
            </a:r>
          </a:p>
          <a:p>
            <a:br/>
            <a:pPr algn="ctr">
              <a:defRPr sz="1400">
                <a:solidFill>
                  <a:srgbClr val="C8C8C8"/>
                </a:solidFill>
                <a:latin typeface="Montserrat"/>
              </a:defRPr>
            </a:pPr>
            <a:r>
              <a:t>Báo cáo viên: Ban An ninh Hệ thống | Font: Montserrat (Chuẩn Projector)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ontserrat"/>
              </a:defRPr>
            </a:pPr>
            <a:r>
              <a:t>NetGuard Triển Khai Mô Hình Phòng Thủ 3 Tầng Giảm 99% Rủi Ro Mã Độc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28416" cy="4114800"/>
          </a:xfrm>
          <a:prstGeom prst="roundRect">
            <a:avLst/>
          </a:prstGeom>
          <a:solidFill>
            <a:srgbClr val="183B72"/>
          </a:solidFill>
          <a:ln w="25400"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00"/>
                </a:solidFill>
                <a:latin typeface="Montserrat"/>
              </a:defRPr>
            </a:pPr>
            <a:r>
              <a:t>TẦNG 1: BẢO VỆ VÀNH ĐAI</a:t>
            </a:r>
          </a:p>
          <a:p>
            <a:pPr>
              <a:defRPr sz="1200">
                <a:solidFill>
                  <a:srgbClr val="B4C8DC"/>
                </a:solidFill>
                <a:latin typeface="Montserrat"/>
              </a:defRPr>
            </a:pPr>
            <a:r>
              <a:t>Perimeter Defense</a:t>
            </a:r>
            <a:br/>
          </a:p>
          <a:p>
            <a:pPr>
              <a:defRPr sz="1400">
                <a:solidFill>
                  <a:srgbClr val="FFFFFF"/>
                </a:solidFill>
                <a:latin typeface="Montserrat"/>
              </a:defRPr>
            </a:pPr>
            <a:r>
              <a:t>• Tường lửa thế hệ mới (NGFW)</a:t>
            </a:r>
            <a:br/>
            <a:r>
              <a:t>• Ngăn chặn IP/Domain độc hại</a:t>
            </a:r>
            <a:br/>
            <a:r>
              <a:t>• Lọc lưu lượng truy cập bất thường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28416" cy="4114800"/>
          </a:xfrm>
          <a:prstGeom prst="roundRect">
            <a:avLst/>
          </a:prstGeom>
          <a:solidFill>
            <a:srgbClr val="183B72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00"/>
                </a:solidFill>
                <a:latin typeface="Montserrat"/>
              </a:defRPr>
            </a:pPr>
            <a:r>
              <a:t>TẦNG 2: GIÁM SÁT NỘI BỘ</a:t>
            </a:r>
          </a:p>
          <a:p>
            <a:pPr>
              <a:defRPr sz="1200">
                <a:solidFill>
                  <a:srgbClr val="B4C8DC"/>
                </a:solidFill>
                <a:latin typeface="Montserrat"/>
              </a:defRPr>
            </a:pPr>
            <a:r>
              <a:t>Internal Monitoring</a:t>
            </a:r>
            <a:br/>
          </a:p>
          <a:p>
            <a:pPr>
              <a:defRPr sz="1400">
                <a:solidFill>
                  <a:srgbClr val="FFFFFF"/>
                </a:solidFill>
                <a:latin typeface="Montserrat"/>
              </a:defRPr>
            </a:pPr>
            <a:r>
              <a:t>• Hệ thống SIEM cào log real-time</a:t>
            </a:r>
            <a:br/>
            <a:r>
              <a:t>• Phát hiện leo quyền bất thường</a:t>
            </a:r>
            <a:br/>
            <a:r>
              <a:t>• Tra cứu mã độc VLOOKUP + TRIM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828800"/>
            <a:ext cx="3328416" cy="4114800"/>
          </a:xfrm>
          <a:prstGeom prst="roundRect">
            <a:avLst/>
          </a:prstGeom>
          <a:solidFill>
            <a:srgbClr val="183B72"/>
          </a:solidFill>
          <a:ln w="25400">
            <a:solidFill>
              <a:srgbClr val="3559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00"/>
                </a:solidFill>
                <a:latin typeface="Montserrat"/>
              </a:defRPr>
            </a:pPr>
            <a:r>
              <a:t>TẦNG 3: PHÔI PHỤC &amp; SAO LƯU</a:t>
            </a:r>
          </a:p>
          <a:p>
            <a:pPr>
              <a:defRPr sz="1200">
                <a:solidFill>
                  <a:srgbClr val="B4C8DC"/>
                </a:solidFill>
                <a:latin typeface="Montserrat"/>
              </a:defRPr>
            </a:pPr>
            <a:r>
              <a:t>Backup &amp; Recovery</a:t>
            </a:r>
            <a:br/>
          </a:p>
          <a:p>
            <a:pPr>
              <a:defRPr sz="1400">
                <a:solidFill>
                  <a:srgbClr val="FFFFFF"/>
                </a:solidFill>
                <a:latin typeface="Montserrat"/>
              </a:defRPr>
            </a:pPr>
            <a:r>
              <a:t>• Sao lưu dữ liệu Offline định kỳ</a:t>
            </a:r>
            <a:br/>
            <a:r>
              <a:t>• Kịch bản ứng phó sự cố khẩn cấp</a:t>
            </a:r>
            <a:br/>
            <a:r>
              <a:t>• Sẵn sàng khôi phục thảm họa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